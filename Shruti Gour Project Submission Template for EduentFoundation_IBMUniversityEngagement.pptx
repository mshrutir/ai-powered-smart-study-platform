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64" r:id="rId7"/>
    <p:sldId id="286" r:id="rId8"/>
    <p:sldId id="287" r:id="rId9"/>
    <p:sldId id="280" r:id="rId10"/>
    <p:sldId id="288" r:id="rId11"/>
    <p:sldId id="289" r:id="rId12"/>
    <p:sldId id="290" r:id="rId13"/>
    <p:sldId id="291"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591CF7-6E22-14BF-DB99-3894772A19DF}" v="65" dt="2026-04-21T05:09:31.452"/>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varScale="1">
        <p:scale>
          <a:sx n="85" d="100"/>
          <a:sy n="85" d="100"/>
        </p:scale>
        <p:origin x="74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r>
              <a:rPr lang="en-US" b="1" dirty="0"/>
              <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139550380"/>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smtClean="0"/>
                        <a:t>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smtClean="0"/>
                        <a:t>Prof</a:t>
                      </a:r>
                      <a:r>
                        <a:rPr lang="en-US" baseline="0" dirty="0" smtClean="0"/>
                        <a:t> </a:t>
                      </a:r>
                      <a:r>
                        <a:rPr lang="en-US" baseline="0" dirty="0" err="1" smtClean="0"/>
                        <a:t>Shruti</a:t>
                      </a:r>
                      <a:r>
                        <a:rPr lang="en-US" baseline="0" dirty="0" smtClean="0"/>
                        <a:t> </a:t>
                      </a:r>
                      <a:r>
                        <a:rPr lang="en-US" baseline="0" dirty="0" err="1" smtClean="0"/>
                        <a:t>Gour</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smtClean="0"/>
                        <a:t>m.shruti.r@gmail.com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smtClean="0"/>
                        <a:t>8600847734</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smtClean="0">
                <a:highlight>
                  <a:srgbClr val="FFFF00"/>
                </a:highlight>
              </a:rPr>
              <a:t>[Education]</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smtClean="0">
                <a:highlight>
                  <a:srgbClr val="FFFF00"/>
                </a:highlight>
              </a:rPr>
              <a:t>[</a:t>
            </a:r>
            <a:r>
              <a:rPr lang="en-US" sz="2400" b="1" dirty="0"/>
              <a:t>AI-Powered Smart Study </a:t>
            </a:r>
            <a:r>
              <a:rPr lang="en-US" sz="2400" b="1" dirty="0" smtClean="0"/>
              <a:t>Platform</a:t>
            </a:r>
            <a:r>
              <a:rPr lang="en-US" sz="2400" b="1" dirty="0" smtClean="0">
                <a:highlight>
                  <a:srgbClr val="FFFF00"/>
                </a:highlight>
              </a:rPr>
              <a:t>]</a:t>
            </a:r>
            <a:endParaRPr lang="en-IN" sz="2400" b="1" dirty="0">
              <a:highlight>
                <a:srgbClr val="FFFF00"/>
              </a:highlight>
            </a:endParaRPr>
          </a:p>
        </p:txBody>
      </p:sp>
      <p:pic>
        <p:nvPicPr>
          <p:cNvPr id="8" name="Picture 7" descr="D:\BACKPU 18818\40408.jpg"/>
          <p:cNvPicPr/>
          <p:nvPr/>
        </p:nvPicPr>
        <p:blipFill>
          <a:blip r:embed="rId3"/>
          <a:srcRect/>
          <a:stretch>
            <a:fillRect/>
          </a:stretch>
        </p:blipFill>
        <p:spPr bwMode="auto">
          <a:xfrm>
            <a:off x="4016415" y="3683879"/>
            <a:ext cx="1064872" cy="978575"/>
          </a:xfrm>
          <a:prstGeom prst="rect">
            <a:avLst/>
          </a:prstGeom>
          <a:noFill/>
          <a:ln w="9525">
            <a:noFill/>
            <a:miter lim="800000"/>
            <a:headEnd/>
            <a:tailEnd/>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483209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Problem Statement : </a:t>
            </a:r>
            <a:r>
              <a:rPr lang="en-US" b="1" dirty="0">
                <a:latin typeface="Times New Roman" panose="02020603050405020304" pitchFamily="18" charset="0"/>
                <a:cs typeface="Times New Roman" panose="02020603050405020304" pitchFamily="18" charset="0"/>
              </a:rPr>
              <a:t>AI-Powered Smart Study Platform</a:t>
            </a:r>
          </a:p>
          <a:p>
            <a:pPr fontAlgn="base"/>
            <a:endParaRPr lang="en-US" b="1" dirty="0" smtClean="0">
              <a:latin typeface="Times New Roman" panose="02020603050405020304" pitchFamily="18" charset="0"/>
              <a:cs typeface="Times New Roman" panose="02020603050405020304" pitchFamily="18" charset="0"/>
            </a:endParaRPr>
          </a:p>
          <a:p>
            <a:pPr fontAlgn="base"/>
            <a:r>
              <a:rPr lang="en-IN" dirty="0">
                <a:latin typeface="Times New Roman" panose="02020603050405020304" pitchFamily="18" charset="0"/>
                <a:cs typeface="Times New Roman" panose="02020603050405020304" pitchFamily="18" charset="0"/>
              </a:rPr>
              <a:t>Students today face an overwhelming flood of information—lecture notes, textbooks, research papers, YouTube tutorials, and online resources. This content is scattered, unorganized, and often not personalized to their learning pace or style. As a result, students struggle with finding the right study material, summarizing key concepts, and staying exam-ready. Traditional study tools only provide static notes or flashcards, failing to adapt dynamically to student needs. The challenge is to move beyond static resources toward an intelligent, adaptive study companion.</a:t>
            </a:r>
          </a:p>
          <a:p>
            <a:pPr fontAlgn="base"/>
            <a:endParaRPr lang="en-US" b="1" dirty="0">
              <a:latin typeface="Times New Roman" panose="02020603050405020304" pitchFamily="18" charset="0"/>
              <a:cs typeface="Times New Roman" panose="02020603050405020304" pitchFamily="18" charset="0"/>
            </a:endParaRPr>
          </a:p>
          <a:p>
            <a:pPr fontAlgn="base"/>
            <a:r>
              <a:rPr lang="en-US" b="1" dirty="0">
                <a:latin typeface="Times New Roman" panose="02020603050405020304" pitchFamily="18" charset="0"/>
                <a:cs typeface="Times New Roman" panose="02020603050405020304" pitchFamily="18" charset="0"/>
              </a:rPr>
              <a:t>The Challenge</a:t>
            </a:r>
            <a:r>
              <a:rPr lang="en-US" dirty="0">
                <a:latin typeface="Times New Roman" panose="02020603050405020304" pitchFamily="18" charset="0"/>
                <a:cs typeface="Times New Roman" panose="02020603050405020304" pitchFamily="18" charset="0"/>
              </a:rPr>
              <a:t> </a:t>
            </a:r>
          </a:p>
          <a:p>
            <a:pPr fontAlgn="base"/>
            <a:endParaRPr lang="en-US" dirty="0">
              <a:latin typeface="Times New Roman" panose="02020603050405020304" pitchFamily="18" charset="0"/>
              <a:cs typeface="Times New Roman" panose="02020603050405020304" pitchFamily="18" charset="0"/>
            </a:endParaRPr>
          </a:p>
          <a:p>
            <a:pPr fontAlgn="base"/>
            <a:r>
              <a:rPr lang="en-US" b="1" dirty="0">
                <a:latin typeface="Times New Roman" panose="02020603050405020304" pitchFamily="18" charset="0"/>
                <a:cs typeface="Times New Roman" panose="02020603050405020304" pitchFamily="18" charset="0"/>
              </a:rPr>
              <a:t>The Objective</a:t>
            </a:r>
            <a:r>
              <a:rPr lang="en-US" dirty="0">
                <a:latin typeface="Times New Roman" panose="02020603050405020304" pitchFamily="18" charset="0"/>
                <a:cs typeface="Times New Roman" panose="02020603050405020304" pitchFamily="18" charset="0"/>
              </a:rPr>
              <a:t> </a:t>
            </a:r>
          </a:p>
          <a:p>
            <a:r>
              <a:rPr lang="en-IN" dirty="0">
                <a:latin typeface="Times New Roman" panose="02020603050405020304" pitchFamily="18" charset="0"/>
                <a:cs typeface="Times New Roman" panose="02020603050405020304" pitchFamily="18" charset="0"/>
              </a:rPr>
              <a:t>Build an agentic AI-powered Smart Study Generator that personalizes and streamlines learning for students. The solution should:</a:t>
            </a:r>
          </a:p>
          <a:p>
            <a:r>
              <a:rPr lang="en-US" b="1" dirty="0">
                <a:latin typeface="Times New Roman" panose="02020603050405020304" pitchFamily="18" charset="0"/>
                <a:cs typeface="Times New Roman" panose="02020603050405020304" pitchFamily="18" charset="0"/>
              </a:rPr>
              <a:t>1. Personalized Learning</a:t>
            </a:r>
            <a:r>
              <a:rPr lang="en-US" dirty="0">
                <a:latin typeface="Times New Roman" panose="02020603050405020304" pitchFamily="18" charset="0"/>
                <a:cs typeface="Times New Roman" panose="02020603050405020304" pitchFamily="18" charset="0"/>
              </a:rPr>
              <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Adapt content, difficulty, and pace based on each learner’s level, goals, and progress.</a:t>
            </a:r>
          </a:p>
          <a:p>
            <a:r>
              <a:rPr lang="en-US" b="1" dirty="0">
                <a:latin typeface="Times New Roman" panose="02020603050405020304" pitchFamily="18" charset="0"/>
                <a:cs typeface="Times New Roman" panose="02020603050405020304" pitchFamily="18" charset="0"/>
              </a:rPr>
              <a:t>2. Improved Understanding</a:t>
            </a:r>
            <a:r>
              <a:rPr lang="en-US" dirty="0">
                <a:latin typeface="Times New Roman" panose="02020603050405020304" pitchFamily="18" charset="0"/>
                <a:cs typeface="Times New Roman" panose="02020603050405020304" pitchFamily="18" charset="0"/>
              </a:rPr>
              <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Break complex topics into simple explanations using examples, analogies, and step-by-step teaching.</a:t>
            </a:r>
          </a:p>
          <a:p>
            <a:r>
              <a:rPr lang="en-US" b="1" dirty="0">
                <a:latin typeface="Times New Roman" panose="02020603050405020304" pitchFamily="18" charset="0"/>
                <a:cs typeface="Times New Roman" panose="02020603050405020304" pitchFamily="18" charset="0"/>
              </a:rPr>
              <a:t>3. Better Retention</a:t>
            </a:r>
            <a:r>
              <a:rPr lang="en-US" dirty="0">
                <a:latin typeface="Times New Roman" panose="02020603050405020304" pitchFamily="18" charset="0"/>
                <a:cs typeface="Times New Roman" panose="02020603050405020304" pitchFamily="18" charset="0"/>
              </a:rPr>
              <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Use techniques like spaced repetition, quizzes, and revision schedules to help users remember longer.</a:t>
            </a:r>
          </a:p>
          <a:p>
            <a:r>
              <a:rPr lang="en-US" b="1" dirty="0">
                <a:latin typeface="Times New Roman" panose="02020603050405020304" pitchFamily="18" charset="0"/>
                <a:cs typeface="Times New Roman" panose="02020603050405020304" pitchFamily="18" charset="0"/>
              </a:rPr>
              <a:t>4. Continuous Assessment</a:t>
            </a:r>
            <a:r>
              <a:rPr lang="en-US" dirty="0">
                <a:latin typeface="Times New Roman" panose="02020603050405020304" pitchFamily="18" charset="0"/>
                <a:cs typeface="Times New Roman" panose="02020603050405020304" pitchFamily="18" charset="0"/>
              </a:rPr>
              <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Regularly test learners through quizzes, practice questions, and feedback loops to track understanding.</a:t>
            </a:r>
          </a:p>
          <a:p>
            <a:r>
              <a:rPr lang="en-IN" b="1" dirty="0" smtClean="0">
                <a:latin typeface="Times New Roman" panose="02020603050405020304" pitchFamily="18" charset="0"/>
                <a:cs typeface="Times New Roman" panose="02020603050405020304" pitchFamily="18" charset="0"/>
              </a:rPr>
              <a:t>Tech </a:t>
            </a:r>
            <a:r>
              <a:rPr lang="en-IN" b="1" dirty="0">
                <a:latin typeface="Times New Roman" panose="02020603050405020304" pitchFamily="18" charset="0"/>
                <a:cs typeface="Times New Roman" panose="02020603050405020304" pitchFamily="18" charset="0"/>
              </a:rPr>
              <a:t>Stack (Mandatory)</a:t>
            </a:r>
            <a:endParaRPr lang="en-IN" dirty="0">
              <a:latin typeface="Times New Roman" panose="02020603050405020304" pitchFamily="18" charset="0"/>
              <a:cs typeface="Times New Roman" panose="02020603050405020304" pitchFamily="18" charset="0"/>
            </a:endParaRPr>
          </a:p>
          <a:p>
            <a:pPr lvl="0"/>
            <a:r>
              <a:rPr lang="en-IN" dirty="0">
                <a:latin typeface="Times New Roman" panose="02020603050405020304" pitchFamily="18" charset="0"/>
                <a:cs typeface="Times New Roman" panose="02020603050405020304" pitchFamily="18" charset="0"/>
              </a:rPr>
              <a:t>IBM </a:t>
            </a:r>
            <a:r>
              <a:rPr lang="en-IN" dirty="0" err="1">
                <a:latin typeface="Times New Roman" panose="02020603050405020304" pitchFamily="18" charset="0"/>
                <a:cs typeface="Times New Roman" panose="02020603050405020304" pitchFamily="18" charset="0"/>
              </a:rPr>
              <a:t>Langflow</a:t>
            </a:r>
            <a:r>
              <a:rPr lang="en-IN" dirty="0">
                <a:latin typeface="Times New Roman" panose="02020603050405020304" pitchFamily="18" charset="0"/>
                <a:cs typeface="Times New Roman" panose="02020603050405020304" pitchFamily="18" charset="0"/>
              </a:rPr>
              <a:t> / IBM Orchestrate + IBM Models</a:t>
            </a:r>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67512" y="1165753"/>
            <a:ext cx="10607040" cy="2893100"/>
          </a:xfrm>
          <a:prstGeom prst="rect">
            <a:avLst/>
          </a:prstGeom>
          <a:noFill/>
        </p:spPr>
        <p:txBody>
          <a:bodyPr wrap="square" rtlCol="0">
            <a:spAutoFit/>
          </a:bodyPr>
          <a:lstStyle/>
          <a:p>
            <a:pPr fontAlgn="base"/>
            <a:endParaRPr lang="en-US" b="1" dirty="0">
              <a:latin typeface="Times New Roman" panose="02020603050405020304" pitchFamily="18" charset="0"/>
              <a:cs typeface="Times New Roman" panose="02020603050405020304" pitchFamily="18" charset="0"/>
            </a:endParaRPr>
          </a:p>
          <a:p>
            <a:pPr fontAlgn="base"/>
            <a:r>
              <a:rPr lang="en-IN" b="1" dirty="0">
                <a:latin typeface="Times New Roman" panose="02020603050405020304" pitchFamily="18" charset="0"/>
                <a:cs typeface="Times New Roman" panose="02020603050405020304" pitchFamily="18" charset="0"/>
              </a:rPr>
              <a:t>Tech Stack (Mandatory)</a:t>
            </a:r>
            <a:r>
              <a:rPr lang="en-IN" dirty="0">
                <a:latin typeface="Times New Roman" panose="02020603050405020304" pitchFamily="18" charset="0"/>
                <a:cs typeface="Times New Roman" panose="02020603050405020304" pitchFamily="18" charset="0"/>
              </a:rPr>
              <a:t> </a:t>
            </a:r>
          </a:p>
          <a:p>
            <a:pPr fontAlgn="base"/>
            <a:r>
              <a:rPr lang="en-IN" dirty="0">
                <a:latin typeface="Times New Roman" panose="02020603050405020304" pitchFamily="18" charset="0"/>
                <a:cs typeface="Times New Roman" panose="02020603050405020304" pitchFamily="18" charset="0"/>
              </a:rPr>
              <a:t>Use </a:t>
            </a:r>
            <a:r>
              <a:rPr lang="en-IN" b="1" dirty="0">
                <a:latin typeface="Times New Roman" panose="02020603050405020304" pitchFamily="18" charset="0"/>
                <a:cs typeface="Times New Roman" panose="02020603050405020304" pitchFamily="18" charset="0"/>
              </a:rPr>
              <a:t>any one</a:t>
            </a:r>
            <a:r>
              <a:rPr lang="en-IN" dirty="0">
                <a:latin typeface="Times New Roman" panose="02020603050405020304" pitchFamily="18" charset="0"/>
                <a:cs typeface="Times New Roman" panose="02020603050405020304" pitchFamily="18" charset="0"/>
              </a:rPr>
              <a:t> of the following approaches: </a:t>
            </a:r>
          </a:p>
          <a:p>
            <a:pPr marL="285750" indent="-285750" fontAlgn="base">
              <a:buFont typeface="Arial" panose="020B0604020202020204" pitchFamily="34" charset="0"/>
              <a:buChar char="•"/>
            </a:pPr>
            <a:r>
              <a:rPr lang="en-IN" dirty="0" err="1">
                <a:latin typeface="Times New Roman" panose="02020603050405020304" pitchFamily="18" charset="0"/>
                <a:cs typeface="Times New Roman" panose="02020603050405020304" pitchFamily="18" charset="0"/>
              </a:rPr>
              <a:t>LangFlow</a:t>
            </a:r>
            <a:r>
              <a:rPr lang="en-IN" dirty="0">
                <a:latin typeface="Times New Roman" panose="02020603050405020304" pitchFamily="18" charset="0"/>
                <a:cs typeface="Times New Roman" panose="02020603050405020304" pitchFamily="18" charset="0"/>
              </a:rPr>
              <a:t> + IBM watsonx.ai + Granite Models </a:t>
            </a:r>
          </a:p>
          <a:p>
            <a:pPr marL="285750" indent="-285750" fontAlgn="base">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IBM Cloud Agentic Lab with IBM Granite Models </a:t>
            </a:r>
          </a:p>
          <a:p>
            <a:pPr marL="285750" indent="-285750" fontAlgn="base">
              <a:buFont typeface="Arial" panose="020B0604020202020204" pitchFamily="34" charset="0"/>
              <a:buChar char="•"/>
            </a:pPr>
            <a:r>
              <a:rPr lang="en-IN" dirty="0">
                <a:latin typeface="Times New Roman" panose="02020603050405020304" pitchFamily="18" charset="0"/>
                <a:cs typeface="Times New Roman" panose="02020603050405020304" pitchFamily="18" charset="0"/>
              </a:rPr>
              <a:t>Replicate with </a:t>
            </a:r>
            <a:r>
              <a:rPr lang="en-IN" dirty="0" err="1">
                <a:latin typeface="Times New Roman" panose="02020603050405020304" pitchFamily="18" charset="0"/>
                <a:cs typeface="Times New Roman" panose="02020603050405020304" pitchFamily="18" charset="0"/>
              </a:rPr>
              <a:t>LangChain</a:t>
            </a:r>
            <a:r>
              <a:rPr lang="en-IN" dirty="0">
                <a:latin typeface="Times New Roman" panose="02020603050405020304" pitchFamily="18" charset="0"/>
                <a:cs typeface="Times New Roman" panose="02020603050405020304" pitchFamily="18" charset="0"/>
              </a:rPr>
              <a:t> + RAG + IBM Granite Models</a:t>
            </a:r>
          </a:p>
          <a:p>
            <a:pPr marL="285750" indent="-285750" fontAlgn="base">
              <a:buFont typeface="Arial" panose="020B0604020202020204" pitchFamily="34" charset="0"/>
              <a:buChar char="•"/>
            </a:pPr>
            <a:endParaRPr lang="en-IN" dirty="0">
              <a:latin typeface="Times New Roman" panose="02020603050405020304" pitchFamily="18" charset="0"/>
              <a:cs typeface="Times New Roman" panose="02020603050405020304" pitchFamily="18" charset="0"/>
            </a:endParaRPr>
          </a:p>
          <a:p>
            <a:pPr fontAlgn="base"/>
            <a:r>
              <a:rPr lang="en-IN" dirty="0">
                <a:latin typeface="Times New Roman" panose="02020603050405020304" pitchFamily="18" charset="0"/>
                <a:cs typeface="Times New Roman" panose="02020603050405020304" pitchFamily="18" charset="0"/>
              </a:rPr>
              <a:t>I used </a:t>
            </a:r>
            <a:r>
              <a:rPr lang="en-IN" dirty="0">
                <a:highlight>
                  <a:srgbClr val="FFFF00"/>
                </a:highlight>
                <a:latin typeface="Times New Roman" panose="02020603050405020304" pitchFamily="18" charset="0"/>
                <a:cs typeface="Times New Roman" panose="02020603050405020304" pitchFamily="18" charset="0"/>
              </a:rPr>
              <a:t> </a:t>
            </a:r>
            <a:r>
              <a:rPr lang="en-IN" dirty="0" smtClean="0">
                <a:highlight>
                  <a:srgbClr val="FFFF00"/>
                </a:highlight>
                <a:latin typeface="Times New Roman" panose="02020603050405020304" pitchFamily="18" charset="0"/>
                <a:cs typeface="Times New Roman" panose="02020603050405020304" pitchFamily="18" charset="0"/>
              </a:rPr>
              <a:t>IBM </a:t>
            </a:r>
            <a:r>
              <a:rPr lang="en-IN" dirty="0">
                <a:highlight>
                  <a:srgbClr val="FFFF00"/>
                </a:highlight>
                <a:latin typeface="Times New Roman" panose="02020603050405020304" pitchFamily="18" charset="0"/>
                <a:cs typeface="Times New Roman" panose="02020603050405020304" pitchFamily="18" charset="0"/>
              </a:rPr>
              <a:t>watsonx.ai </a:t>
            </a:r>
            <a:r>
              <a:rPr lang="en-IN" dirty="0" smtClean="0">
                <a:highlight>
                  <a:srgbClr val="FFFF00"/>
                </a:highlight>
                <a:latin typeface="Times New Roman" panose="02020603050405020304" pitchFamily="18" charset="0"/>
                <a:cs typeface="Times New Roman" panose="02020603050405020304" pitchFamily="18" charset="0"/>
              </a:rPr>
              <a:t>+IBM </a:t>
            </a:r>
            <a:r>
              <a:rPr lang="en-IN" dirty="0" err="1" smtClean="0">
                <a:highlight>
                  <a:srgbClr val="FFFF00"/>
                </a:highlight>
                <a:latin typeface="Times New Roman" panose="02020603050405020304" pitchFamily="18" charset="0"/>
                <a:cs typeface="Times New Roman" panose="02020603050405020304" pitchFamily="18" charset="0"/>
              </a:rPr>
              <a:t>wastsonx</a:t>
            </a:r>
            <a:r>
              <a:rPr lang="en-IN" dirty="0" smtClean="0">
                <a:highlight>
                  <a:srgbClr val="FFFF00"/>
                </a:highlight>
                <a:latin typeface="Times New Roman" panose="02020603050405020304" pitchFamily="18" charset="0"/>
                <a:cs typeface="Times New Roman" panose="02020603050405020304" pitchFamily="18" charset="0"/>
              </a:rPr>
              <a:t> Orchestrate</a:t>
            </a:r>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
        <p:nvSpPr>
          <p:cNvPr id="4" name="TextBox 3">
            <a:extLst>
              <a:ext uri="{FF2B5EF4-FFF2-40B4-BE49-F238E27FC236}">
                <a16:creationId xmlns:a16="http://schemas.microsoft.com/office/drawing/2014/main" id="{4A7608B5-9906-EFCF-959A-E89FC2E3EE19}"/>
              </a:ext>
            </a:extLst>
          </p:cNvPr>
          <p:cNvSpPr txBox="1"/>
          <p:nvPr/>
        </p:nvSpPr>
        <p:spPr>
          <a:xfrm>
            <a:off x="713232" y="3012413"/>
            <a:ext cx="10515600" cy="2585323"/>
          </a:xfrm>
          <a:prstGeom prst="rect">
            <a:avLst/>
          </a:prstGeom>
          <a:noFill/>
        </p:spPr>
        <p:txBody>
          <a:bodyPr wrap="square" rtlCol="0">
            <a:spAutoFit/>
          </a:bodyPr>
          <a:lstStyle/>
          <a:p>
            <a:pPr marL="285750" indent="-285750">
              <a:buFont typeface="Arial" panose="020B0604020202020204" pitchFamily="34" charset="0"/>
              <a:buChar char="•"/>
            </a:pPr>
            <a:endParaRPr lang="en-US" sz="1800" dirty="0">
              <a:latin typeface="Times New Roman" panose="02020603050405020304" pitchFamily="18" charset="0"/>
              <a:cs typeface="Times New Roman" panose="02020603050405020304" pitchFamily="18" charset="0"/>
            </a:endParaRPr>
          </a:p>
          <a:p>
            <a:pPr marL="285750" indent="-285750" fontAlgn="base">
              <a:buFont typeface="Arial"/>
              <a:buChar char="•"/>
            </a:pPr>
            <a:r>
              <a:rPr lang="en-US" b="1" dirty="0">
                <a:latin typeface="Times New Roman" panose="02020603050405020304" pitchFamily="18" charset="0"/>
                <a:cs typeface="Times New Roman" panose="02020603050405020304" pitchFamily="18" charset="0"/>
              </a:rPr>
              <a:t>IBM Cloud </a:t>
            </a:r>
            <a:r>
              <a:rPr lang="en-US" dirty="0">
                <a:latin typeface="Times New Roman" panose="02020603050405020304" pitchFamily="18" charset="0"/>
                <a:cs typeface="Times New Roman" panose="02020603050405020304" pitchFamily="18" charset="0"/>
              </a:rPr>
              <a:t>– It provides the infrastructure to build, deploy, and scale the Nutrition Agent efficiently. IBM Cloud enables a reliable, secure, and scalable environment for deploying the Nutrition Agent.</a:t>
            </a:r>
          </a:p>
          <a:p>
            <a:pPr marL="285750" indent="-285750" fontAlgn="base">
              <a:buFont typeface="Arial"/>
              <a:buChar char="•"/>
            </a:pPr>
            <a:endParaRPr lang="en-US" dirty="0">
              <a:latin typeface="Times New Roman" panose="02020603050405020304" pitchFamily="18" charset="0"/>
              <a:cs typeface="Times New Roman" panose="02020603050405020304" pitchFamily="18" charset="0"/>
            </a:endParaRPr>
          </a:p>
          <a:p>
            <a:pPr marL="285750" indent="-285750" fontAlgn="base">
              <a:buFont typeface="Arial"/>
              <a:buChar char="•"/>
            </a:pPr>
            <a:r>
              <a:rPr lang="en-US" b="1" dirty="0">
                <a:latin typeface="Times New Roman" panose="02020603050405020304" pitchFamily="18" charset="0"/>
                <a:cs typeface="Times New Roman" panose="02020603050405020304" pitchFamily="18" charset="0"/>
              </a:rPr>
              <a:t>IBM </a:t>
            </a:r>
            <a:r>
              <a:rPr lang="en-US" b="1" dirty="0">
                <a:latin typeface="Times New Roman" panose="02020603050405020304" pitchFamily="18" charset="0"/>
                <a:cs typeface="Times New Roman" panose="02020603050405020304" pitchFamily="18" charset="0"/>
              </a:rPr>
              <a:t>Watsonx.ai </a:t>
            </a:r>
            <a:r>
              <a:rPr lang="en-US" dirty="0">
                <a:latin typeface="Times New Roman" panose="02020603050405020304" pitchFamily="18" charset="0"/>
                <a:cs typeface="Times New Roman" panose="02020603050405020304" pitchFamily="18" charset="0"/>
              </a:rPr>
              <a:t>- For model deployment, embeddings, and AI governance</a:t>
            </a:r>
          </a:p>
          <a:p>
            <a:pPr marL="285750" indent="-285750" fontAlgn="base">
              <a:buFont typeface="Arial"/>
              <a:buChar char="•"/>
            </a:pPr>
            <a:endParaRPr lang="en-US" dirty="0">
              <a:latin typeface="Times New Roman" panose="02020603050405020304" pitchFamily="18" charset="0"/>
              <a:cs typeface="Times New Roman" panose="02020603050405020304" pitchFamily="18" charset="0"/>
            </a:endParaRPr>
          </a:p>
          <a:p>
            <a:pPr marL="285750" indent="-285750" fontAlgn="base">
              <a:buFont typeface="Arial"/>
              <a:buChar char="•"/>
            </a:pPr>
            <a:r>
              <a:rPr lang="en-IN" b="1" dirty="0">
                <a:latin typeface="Times New Roman" panose="02020603050405020304" pitchFamily="18" charset="0"/>
                <a:cs typeface="Times New Roman" panose="02020603050405020304" pitchFamily="18" charset="0"/>
              </a:rPr>
              <a:t>IBM </a:t>
            </a:r>
            <a:r>
              <a:rPr lang="en-IN" b="1" dirty="0" err="1">
                <a:latin typeface="Times New Roman" panose="02020603050405020304" pitchFamily="18" charset="0"/>
                <a:cs typeface="Times New Roman" panose="02020603050405020304" pitchFamily="18" charset="0"/>
              </a:rPr>
              <a:t>wastsonx</a:t>
            </a:r>
            <a:r>
              <a:rPr lang="en-IN" b="1" dirty="0">
                <a:latin typeface="Times New Roman" panose="02020603050405020304" pitchFamily="18" charset="0"/>
                <a:cs typeface="Times New Roman" panose="02020603050405020304" pitchFamily="18" charset="0"/>
              </a:rPr>
              <a:t> </a:t>
            </a:r>
            <a:r>
              <a:rPr lang="en-IN" b="1" dirty="0" smtClean="0">
                <a:latin typeface="Times New Roman" panose="02020603050405020304" pitchFamily="18" charset="0"/>
                <a:cs typeface="Times New Roman" panose="02020603050405020304" pitchFamily="18" charset="0"/>
              </a:rPr>
              <a:t>Orchestrate:</a:t>
            </a:r>
            <a:r>
              <a:rPr lang="en-US" dirty="0">
                <a:latin typeface="Times New Roman" panose="02020603050405020304" pitchFamily="18" charset="0"/>
                <a:cs typeface="Times New Roman" panose="02020603050405020304" pitchFamily="18" charset="0"/>
              </a:rPr>
              <a:t>IBM </a:t>
            </a:r>
            <a:r>
              <a:rPr lang="en-US" dirty="0" err="1">
                <a:latin typeface="Times New Roman" panose="02020603050405020304" pitchFamily="18" charset="0"/>
                <a:cs typeface="Times New Roman" panose="02020603050405020304" pitchFamily="18" charset="0"/>
              </a:rPr>
              <a:t>watsonx</a:t>
            </a:r>
            <a:r>
              <a:rPr lang="en-US" dirty="0">
                <a:latin typeface="Times New Roman" panose="02020603050405020304" pitchFamily="18" charset="0"/>
                <a:cs typeface="Times New Roman" panose="02020603050405020304" pitchFamily="18" charset="0"/>
              </a:rPr>
              <a:t> Orchestrate is an AI-powered automation platform from IBM that helps organizations automate business processes, coordinate AI agents, and streamline work across multiple applications and systems.</a:t>
            </a:r>
            <a:endParaRPr lang="en-US" b="1"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1384995"/>
          </a:xfrm>
          <a:prstGeom prst="rect">
            <a:avLst/>
          </a:prstGeom>
          <a:noFill/>
        </p:spPr>
        <p:txBody>
          <a:bodyPr wrap="square" rtlCol="0">
            <a:spAutoFit/>
          </a:bodyPr>
          <a:lstStyle/>
          <a:p>
            <a:pPr fontAlgn="base"/>
            <a:endParaRPr lang="en-US" b="1" dirty="0"/>
          </a:p>
          <a:p>
            <a:r>
              <a:rPr lang="en-US" b="1" dirty="0">
                <a:latin typeface="Times New Roman" panose="02020603050405020304" pitchFamily="18" charset="0"/>
                <a:cs typeface="Times New Roman" panose="02020603050405020304" pitchFamily="18" charset="0"/>
              </a:rPr>
              <a:t>Proposed Solution: AI-Powered </a:t>
            </a:r>
            <a:r>
              <a:rPr lang="en-US" b="1" dirty="0" smtClean="0">
                <a:latin typeface="Times New Roman" panose="02020603050405020304" pitchFamily="18" charset="0"/>
                <a:cs typeface="Times New Roman" panose="02020603050405020304" pitchFamily="18" charset="0"/>
              </a:rPr>
              <a:t>Smart Study Platform</a:t>
            </a:r>
            <a:endParaRPr lang="en-US" b="1"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The proposed solution is an </a:t>
            </a:r>
            <a:r>
              <a:rPr lang="en-US" b="1" dirty="0">
                <a:latin typeface="Times New Roman" panose="02020603050405020304" pitchFamily="18" charset="0"/>
                <a:cs typeface="Times New Roman" panose="02020603050405020304" pitchFamily="18" charset="0"/>
              </a:rPr>
              <a:t>AI-powered Smart Study Platform</a:t>
            </a:r>
            <a:r>
              <a:rPr lang="en-US" dirty="0">
                <a:latin typeface="Times New Roman" panose="02020603050405020304" pitchFamily="18" charset="0"/>
                <a:cs typeface="Times New Roman" panose="02020603050405020304" pitchFamily="18" charset="0"/>
              </a:rPr>
              <a:t> designed to transform traditional learning into a personalized, adaptive, and interactive experience. The platform uses artificial intelligence to understand each learner’s needs, track progress, and deliver customized learning </a:t>
            </a:r>
            <a:r>
              <a:rPr lang="en-US" dirty="0" smtClean="0">
                <a:latin typeface="Times New Roman" panose="02020603050405020304" pitchFamily="18" charset="0"/>
                <a:cs typeface="Times New Roman" panose="02020603050405020304" pitchFamily="18" charset="0"/>
              </a:rPr>
              <a:t>material to  improve efficiency .</a:t>
            </a:r>
            <a:endParaRPr lang="en-US" dirty="0">
              <a:latin typeface="Times New Roman" panose="02020603050405020304" pitchFamily="18" charset="0"/>
              <a:cs typeface="Times New Roman" panose="02020603050405020304" pitchFamily="18" charset="0"/>
            </a:endParaRP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954107"/>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Role of Agentic AI in Nutrition Agent</a:t>
            </a:r>
          </a:p>
          <a:p>
            <a:r>
              <a:rPr lang="en-US" b="1" dirty="0">
                <a:latin typeface="Times New Roman" panose="02020603050405020304" pitchFamily="18" charset="0"/>
                <a:cs typeface="Times New Roman" panose="02020603050405020304" pitchFamily="18" charset="0"/>
              </a:rPr>
              <a:t>Agentic AI</a:t>
            </a:r>
            <a:r>
              <a:rPr lang="en-US" dirty="0">
                <a:latin typeface="Times New Roman" panose="02020603050405020304" pitchFamily="18" charset="0"/>
                <a:cs typeface="Times New Roman" panose="02020603050405020304" pitchFamily="18" charset="0"/>
              </a:rPr>
              <a:t> refers to AI systems that can </a:t>
            </a:r>
            <a:r>
              <a:rPr lang="en-US" b="1" dirty="0">
                <a:latin typeface="Times New Roman" panose="02020603050405020304" pitchFamily="18" charset="0"/>
                <a:cs typeface="Times New Roman" panose="02020603050405020304" pitchFamily="18" charset="0"/>
              </a:rPr>
              <a:t>plan, decide, and take actions autonomously</a:t>
            </a:r>
            <a:r>
              <a:rPr lang="en-US" dirty="0">
                <a:latin typeface="Times New Roman" panose="02020603050405020304" pitchFamily="18" charset="0"/>
                <a:cs typeface="Times New Roman" panose="02020603050405020304" pitchFamily="18" charset="0"/>
              </a:rPr>
              <a:t> to achieve goals—rather than just responding to prompts. In a smart study platform, it acts like an active “learning agent” that continuously supports and guides the student.</a:t>
            </a:r>
            <a:endParaRPr lang="en-US"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2800767"/>
          </a:xfrm>
          <a:prstGeom prst="rect">
            <a:avLst/>
          </a:prstGeom>
          <a:noFill/>
        </p:spPr>
        <p:txBody>
          <a:bodyPr wrap="square" rtlCol="0">
            <a:spAutoFit/>
          </a:bodyPr>
          <a:lstStyle/>
          <a:p>
            <a:r>
              <a:rPr lang="en-IN" sz="1800" dirty="0">
                <a:latin typeface="Times New Roman" panose="02020603050405020304" pitchFamily="18" charset="0"/>
                <a:cs typeface="Times New Roman" panose="02020603050405020304" pitchFamily="18" charset="0"/>
              </a:rPr>
              <a:t>The proposed </a:t>
            </a:r>
            <a:r>
              <a:rPr lang="en-US" sz="1800" b="1" dirty="0">
                <a:latin typeface="Times New Roman" panose="02020603050405020304" pitchFamily="18" charset="0"/>
                <a:cs typeface="Times New Roman" panose="02020603050405020304" pitchFamily="18" charset="0"/>
              </a:rPr>
              <a:t>AI-Powered Smart Study </a:t>
            </a:r>
            <a:r>
              <a:rPr lang="en-US" sz="1800" b="1" dirty="0" smtClean="0">
                <a:latin typeface="Times New Roman" panose="02020603050405020304" pitchFamily="18" charset="0"/>
                <a:cs typeface="Times New Roman" panose="02020603050405020304" pitchFamily="18" charset="0"/>
              </a:rPr>
              <a:t>Platform</a:t>
            </a:r>
            <a:r>
              <a:rPr lang="en-IN" sz="1800" dirty="0" smtClean="0">
                <a:latin typeface="Times New Roman" panose="02020603050405020304" pitchFamily="18" charset="0"/>
                <a:cs typeface="Times New Roman" panose="02020603050405020304" pitchFamily="18" charset="0"/>
              </a:rPr>
              <a:t> </a:t>
            </a:r>
            <a:r>
              <a:rPr lang="en-IN" sz="1800" dirty="0">
                <a:latin typeface="Times New Roman" panose="02020603050405020304" pitchFamily="18" charset="0"/>
                <a:cs typeface="Times New Roman" panose="02020603050405020304" pitchFamily="18" charset="0"/>
              </a:rPr>
              <a:t>Agent stands out by combining </a:t>
            </a:r>
            <a:r>
              <a:rPr lang="en-IN" sz="1800" b="1" dirty="0">
                <a:latin typeface="Times New Roman" panose="02020603050405020304" pitchFamily="18" charset="0"/>
                <a:cs typeface="Times New Roman" panose="02020603050405020304" pitchFamily="18" charset="0"/>
              </a:rPr>
              <a:t>Agentic </a:t>
            </a:r>
            <a:r>
              <a:rPr lang="en-IN" sz="1800" b="1" dirty="0" smtClean="0">
                <a:latin typeface="Times New Roman" panose="02020603050405020304" pitchFamily="18" charset="0"/>
                <a:cs typeface="Times New Roman" panose="02020603050405020304" pitchFamily="18" charset="0"/>
              </a:rPr>
              <a:t>AI, </a:t>
            </a:r>
            <a:r>
              <a:rPr lang="en-IN" sz="1800" b="1" dirty="0">
                <a:latin typeface="Times New Roman" panose="02020603050405020304" pitchFamily="18" charset="0"/>
                <a:cs typeface="Times New Roman" panose="02020603050405020304" pitchFamily="18" charset="0"/>
              </a:rPr>
              <a:t>and personalization</a:t>
            </a:r>
            <a:r>
              <a:rPr lang="en-IN" sz="1800" dirty="0">
                <a:latin typeface="Times New Roman" panose="02020603050405020304" pitchFamily="18" charset="0"/>
                <a:cs typeface="Times New Roman" panose="02020603050405020304" pitchFamily="18" charset="0"/>
              </a:rPr>
              <a:t> into a single intelligent system.</a:t>
            </a:r>
          </a:p>
          <a:p>
            <a:endParaRPr lang="en-IN" sz="1800" dirty="0">
              <a:latin typeface="Times New Roman" panose="02020603050405020304" pitchFamily="18" charset="0"/>
              <a:cs typeface="Times New Roman" panose="02020603050405020304" pitchFamily="18" charset="0"/>
            </a:endParaRPr>
          </a:p>
          <a:p>
            <a:r>
              <a:rPr lang="en-US" sz="1800" dirty="0" smtClean="0">
                <a:latin typeface="Times New Roman" panose="02020603050405020304" pitchFamily="18" charset="0"/>
                <a:cs typeface="Times New Roman" panose="02020603050405020304" pitchFamily="18" charset="0"/>
              </a:rPr>
              <a:t>Traditional </a:t>
            </a:r>
            <a:r>
              <a:rPr lang="en-US" sz="1800" dirty="0">
                <a:latin typeface="Times New Roman" panose="02020603050405020304" pitchFamily="18" charset="0"/>
                <a:cs typeface="Times New Roman" panose="02020603050405020304" pitchFamily="18" charset="0"/>
              </a:rPr>
              <a:t>platforms focus on content delivery</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Agentic AI focuses on:</a:t>
            </a:r>
          </a:p>
          <a:p>
            <a:r>
              <a:rPr lang="en-US" sz="1800" dirty="0">
                <a:latin typeface="Times New Roman" panose="02020603050405020304" pitchFamily="18" charset="0"/>
                <a:cs typeface="Times New Roman" panose="02020603050405020304" pitchFamily="18" charset="0"/>
              </a:rPr>
              <a:t>Exam readiness </a:t>
            </a:r>
          </a:p>
          <a:p>
            <a:r>
              <a:rPr lang="en-US" sz="1800" dirty="0">
                <a:latin typeface="Times New Roman" panose="02020603050405020304" pitchFamily="18" charset="0"/>
                <a:cs typeface="Times New Roman" panose="02020603050405020304" pitchFamily="18" charset="0"/>
              </a:rPr>
              <a:t>Skill mastery </a:t>
            </a:r>
          </a:p>
          <a:p>
            <a:r>
              <a:rPr lang="en-US" sz="1800" dirty="0">
                <a:latin typeface="Times New Roman" panose="02020603050405020304" pitchFamily="18" charset="0"/>
                <a:cs typeface="Times New Roman" panose="02020603050405020304" pitchFamily="18" charset="0"/>
              </a:rPr>
              <a:t>Performance improvement </a:t>
            </a:r>
          </a:p>
          <a:p>
            <a:r>
              <a:rPr lang="en-US" sz="1800" dirty="0" smtClean="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Novelty:</a:t>
            </a:r>
            <a:r>
              <a:rPr lang="en-US" sz="1800" dirty="0">
                <a:latin typeface="Times New Roman" panose="02020603050405020304" pitchFamily="18" charset="0"/>
                <a:cs typeface="Times New Roman" panose="02020603050405020304" pitchFamily="18" charset="0"/>
              </a:rPr>
              <a:t> Shift from “what to study” → “how to succeed”.</a:t>
            </a:r>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r>
              <a:rPr lang="en-US" sz="1850" dirty="0">
                <a:solidFill>
                  <a:srgbClr val="2B3541"/>
                </a:solidFill>
                <a:latin typeface="Times New Roman"/>
                <a:ea typeface="Times New Roman"/>
                <a:cs typeface="Times New Roman"/>
                <a:sym typeface="Times New Roman"/>
              </a:rPr>
              <a:t/>
            </a:r>
            <a:br>
              <a:rPr lang="en-US" sz="1850" dirty="0">
                <a:solidFill>
                  <a:srgbClr val="2B3541"/>
                </a:solidFill>
                <a:latin typeface="Times New Roman"/>
                <a:ea typeface="Times New Roman"/>
                <a:cs typeface="Times New Roman"/>
                <a:sym typeface="Times New Roman"/>
              </a:rPr>
            </a:br>
            <a:r>
              <a:rPr lang="en-US" sz="1850" dirty="0">
                <a:solidFill>
                  <a:srgbClr val="2B3541"/>
                </a:solidFill>
                <a:latin typeface="Times New Roman"/>
                <a:ea typeface="Times New Roman"/>
                <a:cs typeface="Times New Roman"/>
                <a:sym typeface="Times New Roman"/>
              </a:rPr>
              <a:t>1) </a:t>
            </a:r>
            <a:r>
              <a:rPr lang="en-US" sz="1850" dirty="0" err="1">
                <a:solidFill>
                  <a:srgbClr val="2B3541"/>
                </a:solidFill>
                <a:latin typeface="Times New Roman"/>
                <a:ea typeface="Times New Roman"/>
                <a:cs typeface="Times New Roman"/>
                <a:sym typeface="Times New Roman"/>
              </a:rPr>
              <a:t>app.json</a:t>
            </a:r>
            <a:r>
              <a:rPr lang="en-US" sz="1850" dirty="0">
                <a:solidFill>
                  <a:srgbClr val="2B3541"/>
                </a:solidFill>
                <a:latin typeface="Times New Roman"/>
                <a:ea typeface="Times New Roman"/>
                <a:cs typeface="Times New Roman"/>
                <a:sym typeface="Times New Roman"/>
              </a:rPr>
              <a:t> file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778933" y="1221715"/>
            <a:ext cx="9654371"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2000" dirty="0">
                <a:latin typeface="Times New Roman" panose="02020603050405020304" pitchFamily="18" charset="0"/>
                <a:cs typeface="Times New Roman" panose="02020603050405020304" pitchFamily="18" charset="0"/>
              </a:rPr>
              <a:t>The future scope of </a:t>
            </a:r>
            <a:r>
              <a:rPr lang="en-US" sz="2000" b="1" dirty="0">
                <a:latin typeface="Times New Roman" panose="02020603050405020304" pitchFamily="18" charset="0"/>
                <a:cs typeface="Times New Roman" panose="02020603050405020304" pitchFamily="18" charset="0"/>
              </a:rPr>
              <a:t>Agentic AI in Smart Study Platforms</a:t>
            </a:r>
            <a:r>
              <a:rPr lang="en-US" sz="2000" dirty="0">
                <a:latin typeface="Times New Roman" panose="02020603050405020304" pitchFamily="18" charset="0"/>
                <a:cs typeface="Times New Roman" panose="02020603050405020304" pitchFamily="18" charset="0"/>
              </a:rPr>
              <a:t> is vast, as advancements in artificial intelligence will enable more autonomous, personalized, and intelligent learning experiences. Agentic AI has the potential to revolutionize education by acting as a lifelong learning companion that continuously adapts to individual needs</a:t>
            </a:r>
            <a:r>
              <a:rPr lang="en-US" sz="2000" dirty="0" smtClean="0">
                <a:latin typeface="Times New Roman" panose="02020603050405020304" pitchFamily="18" charset="0"/>
                <a:cs typeface="Times New Roman" panose="02020603050405020304" pitchFamily="18" charset="0"/>
              </a:rPr>
              <a:t>.</a:t>
            </a:r>
          </a:p>
          <a:p>
            <a:pPr lvl="0">
              <a:lnSpc>
                <a:spcPct val="162162"/>
              </a:lnSpc>
              <a:buClr>
                <a:srgbClr val="2B3541"/>
              </a:buClr>
              <a:buSzPts val="1850"/>
            </a:pPr>
            <a:endParaRPr lang="en-US" sz="2000" dirty="0" smtClean="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Multiple AI agents will work together, such as:</a:t>
            </a:r>
          </a:p>
          <a:p>
            <a:r>
              <a:rPr lang="en-US" sz="2000" dirty="0" smtClean="0">
                <a:latin typeface="Times New Roman" panose="02020603050405020304" pitchFamily="18" charset="0"/>
                <a:cs typeface="Times New Roman" panose="02020603050405020304" pitchFamily="18" charset="0"/>
              </a:rPr>
              <a:t>1 Tutor </a:t>
            </a:r>
            <a:r>
              <a:rPr lang="en-US" sz="2000" dirty="0">
                <a:latin typeface="Times New Roman" panose="02020603050405020304" pitchFamily="18" charset="0"/>
                <a:cs typeface="Times New Roman" panose="02020603050405020304" pitchFamily="18" charset="0"/>
              </a:rPr>
              <a:t>Agent for teaching concepts </a:t>
            </a:r>
            <a:r>
              <a:rPr lang="en-US" sz="2000" dirty="0" smtClean="0">
                <a:latin typeface="Times New Roman" panose="02020603050405020304" pitchFamily="18" charset="0"/>
                <a:cs typeface="Times New Roman" panose="02020603050405020304" pitchFamily="18" charset="0"/>
              </a:rPr>
              <a:t>.</a:t>
            </a:r>
            <a:endParaRPr lang="en-US" sz="2000" dirty="0">
              <a:latin typeface="Times New Roman" panose="02020603050405020304" pitchFamily="18" charset="0"/>
              <a:cs typeface="Times New Roman" panose="02020603050405020304" pitchFamily="18" charset="0"/>
            </a:endParaRPr>
          </a:p>
          <a:p>
            <a:r>
              <a:rPr lang="en-US" sz="2000" dirty="0" smtClean="0">
                <a:latin typeface="Times New Roman" panose="02020603050405020304" pitchFamily="18" charset="0"/>
                <a:cs typeface="Times New Roman" panose="02020603050405020304" pitchFamily="18" charset="0"/>
              </a:rPr>
              <a:t>2 Assessment </a:t>
            </a:r>
            <a:r>
              <a:rPr lang="en-US" sz="2000" dirty="0">
                <a:latin typeface="Times New Roman" panose="02020603050405020304" pitchFamily="18" charset="0"/>
                <a:cs typeface="Times New Roman" panose="02020603050405020304" pitchFamily="18" charset="0"/>
              </a:rPr>
              <a:t>Agent for testing knowledge </a:t>
            </a:r>
            <a:r>
              <a:rPr lang="en-US" sz="2000" dirty="0" smtClean="0">
                <a:latin typeface="Times New Roman" panose="02020603050405020304" pitchFamily="18" charset="0"/>
                <a:cs typeface="Times New Roman" panose="02020603050405020304" pitchFamily="18" charset="0"/>
              </a:rPr>
              <a:t>.</a:t>
            </a:r>
            <a:endParaRPr lang="en-US" sz="2000" dirty="0">
              <a:latin typeface="Times New Roman" panose="02020603050405020304" pitchFamily="18" charset="0"/>
              <a:cs typeface="Times New Roman" panose="02020603050405020304" pitchFamily="18" charset="0"/>
            </a:endParaRPr>
          </a:p>
          <a:p>
            <a:r>
              <a:rPr lang="en-US" sz="2000" dirty="0" smtClean="0">
                <a:latin typeface="Times New Roman" panose="02020603050405020304" pitchFamily="18" charset="0"/>
                <a:cs typeface="Times New Roman" panose="02020603050405020304" pitchFamily="18" charset="0"/>
              </a:rPr>
              <a:t>3 Scheduler </a:t>
            </a:r>
            <a:r>
              <a:rPr lang="en-US" sz="2000" dirty="0">
                <a:latin typeface="Times New Roman" panose="02020603050405020304" pitchFamily="18" charset="0"/>
                <a:cs typeface="Times New Roman" panose="02020603050405020304" pitchFamily="18" charset="0"/>
              </a:rPr>
              <a:t>Agent for time management </a:t>
            </a:r>
            <a:r>
              <a:rPr lang="en-US" sz="2000" dirty="0" smtClean="0">
                <a:latin typeface="Times New Roman" panose="02020603050405020304" pitchFamily="18" charset="0"/>
                <a:cs typeface="Times New Roman" panose="02020603050405020304" pitchFamily="18" charset="0"/>
              </a:rPr>
              <a:t>.</a:t>
            </a:r>
            <a:endParaRPr lang="en-US" sz="2000" dirty="0">
              <a:latin typeface="Times New Roman" panose="02020603050405020304" pitchFamily="18" charset="0"/>
              <a:cs typeface="Times New Roman" panose="02020603050405020304" pitchFamily="18" charset="0"/>
            </a:endParaRPr>
          </a:p>
          <a:p>
            <a:r>
              <a:rPr lang="en-US" sz="2000" dirty="0" smtClean="0">
                <a:latin typeface="Times New Roman" panose="02020603050405020304" pitchFamily="18" charset="0"/>
                <a:cs typeface="Times New Roman" panose="02020603050405020304" pitchFamily="18" charset="0"/>
              </a:rPr>
              <a:t>4 Career </a:t>
            </a:r>
            <a:r>
              <a:rPr lang="en-US" sz="2000" dirty="0">
                <a:latin typeface="Times New Roman" panose="02020603050405020304" pitchFamily="18" charset="0"/>
                <a:cs typeface="Times New Roman" panose="02020603050405020304" pitchFamily="18" charset="0"/>
              </a:rPr>
              <a:t>Guidance Agent for future </a:t>
            </a:r>
            <a:r>
              <a:rPr lang="en-US" sz="2000" dirty="0" smtClean="0">
                <a:latin typeface="Times New Roman" panose="02020603050405020304" pitchFamily="18" charset="0"/>
                <a:cs typeface="Times New Roman" panose="02020603050405020304" pitchFamily="18" charset="0"/>
              </a:rPr>
              <a:t>planning.</a:t>
            </a:r>
            <a:endParaRPr lang="en-US" sz="2000" dirty="0">
              <a:latin typeface="Times New Roman" panose="02020603050405020304" pitchFamily="18" charset="0"/>
              <a:cs typeface="Times New Roman" panose="02020603050405020304" pitchFamily="18" charset="0"/>
            </a:endParaRPr>
          </a:p>
          <a:p>
            <a:pPr lvl="0">
              <a:lnSpc>
                <a:spcPct val="162162"/>
              </a:lnSpc>
              <a:buClr>
                <a:srgbClr val="2B3541"/>
              </a:buClr>
              <a:buSzPts val="1850"/>
            </a:pP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363626" y="578734"/>
            <a:ext cx="10983824" cy="4907666"/>
          </a:xfrm>
          <a:prstGeom prst="rect">
            <a:avLst/>
          </a:prstGeom>
        </p:spPr>
      </p:pic>
    </p:spTree>
    <p:extLst>
      <p:ext uri="{BB962C8B-B14F-4D97-AF65-F5344CB8AC3E}">
        <p14:creationId xmlns:p14="http://schemas.microsoft.com/office/powerpoint/2010/main" val="27499846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161239" y="747781"/>
            <a:ext cx="12030761" cy="5295946"/>
          </a:xfrm>
          <a:prstGeom prst="rect">
            <a:avLst/>
          </a:prstGeom>
        </p:spPr>
      </p:pic>
    </p:spTree>
    <p:extLst>
      <p:ext uri="{BB962C8B-B14F-4D97-AF65-F5344CB8AC3E}">
        <p14:creationId xmlns:p14="http://schemas.microsoft.com/office/powerpoint/2010/main" val="21481069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416571" y="567159"/>
            <a:ext cx="11370140" cy="5277461"/>
          </a:xfrm>
          <a:prstGeom prst="rect">
            <a:avLst/>
          </a:prstGeom>
        </p:spPr>
      </p:pic>
    </p:spTree>
    <p:extLst>
      <p:ext uri="{BB962C8B-B14F-4D97-AF65-F5344CB8AC3E}">
        <p14:creationId xmlns:p14="http://schemas.microsoft.com/office/powerpoint/2010/main" val="40646462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99277" y="856527"/>
            <a:ext cx="11561074" cy="5249118"/>
          </a:xfrm>
          <a:prstGeom prst="rect">
            <a:avLst/>
          </a:prstGeom>
        </p:spPr>
      </p:pic>
    </p:spTree>
    <p:extLst>
      <p:ext uri="{BB962C8B-B14F-4D97-AF65-F5344CB8AC3E}">
        <p14:creationId xmlns:p14="http://schemas.microsoft.com/office/powerpoint/2010/main" val="29222473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1250</TotalTime>
  <Words>535</Words>
  <Application>Microsoft Office PowerPoint</Application>
  <PresentationFormat>Widescreen</PresentationFormat>
  <Paragraphs>78</Paragraphs>
  <Slides>14</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admin</cp:lastModifiedBy>
  <cp:revision>51</cp:revision>
  <dcterms:created xsi:type="dcterms:W3CDTF">2025-07-08T05:06:56Z</dcterms:created>
  <dcterms:modified xsi:type="dcterms:W3CDTF">2026-06-17T10:06:51Z</dcterms:modified>
</cp:coreProperties>
</file>